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entry-level Data Analyst postings</c:v>
                </c:pt>
              </c:strCache>
            </c:strRef>
          </c:tx>
          <c:spPr>
            <a:solidFill>
              <a:srgbClr val="D97E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A2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SQL</c:v>
                  </c:pt>
                  <c:pt idx="1">
                    <c:v>Excel / Sheets</c:v>
                  </c:pt>
                  <c:pt idx="2">
                    <c:v>A BI tool</c:v>
                  </c:pt>
                  <c:pt idx="3">
                    <c:v>Python</c:v>
                  </c:pt>
                  <c:pt idx="4">
                    <c:v>Communication
(named explicitly)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70</c:v>
                </c:pt>
                <c:pt idx="2">
                  <c:v>40</c:v>
                </c:pt>
                <c:pt idx="3">
                  <c:v>38</c:v>
                </c:pt>
                <c:pt idx="4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A2A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BRANCH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Foundations, Careers,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Your First Commit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DSDG Data Analytics — Week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280160" cy="45720"/>
          </a:xfrm>
          <a:prstGeom prst="rect">
            <a:avLst/>
          </a:prstGeom>
          <a:solidFill>
            <a:srgbClr val="D97E3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54480" y="198424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Analytics actually 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24231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how it differs from Data Science, Engineering, and Consulting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554480" y="3035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paths &amp; outcomes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4747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branch leads, backed by real hiring data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54480" y="40873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quickstart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45262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commands you'll use almost every week this semester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your first commit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5577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Low-stakes, real repo, real workflow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roles, one foundation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374904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Analyst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specific question with data that mostly already exists. Communicates findings.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606040" cy="374904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03320" y="2423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Scientist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03320" y="315468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predictive models on messier, larger data. Lives in code full-time.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920240"/>
            <a:ext cx="2606040" cy="374904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37960" y="2423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Engineer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315468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pipelines that get raw data into a usable state in the first place.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0" y="1920240"/>
            <a:ext cx="2606040" cy="374904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7" name="Text 15"/>
          <p:cNvSpPr/>
          <p:nvPr/>
        </p:nvSpPr>
        <p:spPr>
          <a:xfrm>
            <a:off x="937260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CLIENT-FACING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72600" y="242316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72600" y="315468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analysis into a business recommendation — often with several disciplines at once.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through-line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roles need the same foundation: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1B3A3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83464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160520" y="283464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1B3A34"/>
          </a:solidFill>
          <a:ln/>
        </p:spPr>
      </p:sp>
      <p:sp>
        <p:nvSpPr>
          <p:cNvPr id="8" name="Text 6"/>
          <p:cNvSpPr/>
          <p:nvPr/>
        </p:nvSpPr>
        <p:spPr>
          <a:xfrm>
            <a:off x="4160520" y="283464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80960" y="283464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1B3A34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0" y="283464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Clear communication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448056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foundation is this branch. Which direction you go from here — Analyst-track roles, a Data Science path, or our Consulting branch — is a later decision, not a week-1 one.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branch leads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1B3A3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3774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834640" y="2377440"/>
            <a:ext cx="411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46120" y="23774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1B3A34"/>
          </a:solidFill>
          <a:ln/>
        </p:spPr>
      </p:sp>
      <p:sp>
        <p:nvSpPr>
          <p:cNvPr id="8" name="Text 6"/>
          <p:cNvSpPr/>
          <p:nvPr/>
        </p:nvSpPr>
        <p:spPr>
          <a:xfrm>
            <a:off x="3246120" y="23774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0680" y="2377440"/>
            <a:ext cx="411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D97E3F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0" y="23774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Branch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(selective)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2377440"/>
            <a:ext cx="411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458200" y="23774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5B8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23774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client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297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well here — and specifically, a strong capstone at semester's end — is the most direct path to Consulting.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entry-level postings actually ask for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10881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263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directional averages across current job-market analyses — treat rankings as more reliable than exact percentages.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QUICKSTART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use it from week 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73152" cy="1051560"/>
          </a:xfrm>
          <a:prstGeom prst="rect">
            <a:avLst/>
          </a:prstGeom>
          <a:solidFill>
            <a:srgbClr val="D97E3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574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the record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dataset, script, and deck lives in one versioned place — not scattered across group chats.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73152" cy="1051560"/>
          </a:xfrm>
          <a:prstGeom prst="rect">
            <a:avLst/>
          </a:prstGeom>
          <a:solidFill>
            <a:srgbClr val="D97E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290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the first rep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this matters for an internship, it's already a habit — not something to cram.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73152" cy="1051560"/>
          </a:xfrm>
          <a:prstGeom prst="rect">
            <a:avLst/>
          </a:prstGeom>
          <a:solidFill>
            <a:srgbClr val="D97E3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what real teams use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52578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branch this maps to — Consulting included — works this way.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QUICKSTART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commands, in order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1783080" cy="1005840"/>
          </a:xfrm>
          <a:prstGeom prst="roundRect">
            <a:avLst>
              <a:gd name="adj" fmla="val 5455"/>
            </a:avLst>
          </a:prstGeom>
          <a:solidFill>
            <a:srgbClr val="1B3A3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37744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ever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423160" y="2377440"/>
            <a:ext cx="274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2377440"/>
            <a:ext cx="1783080" cy="1005840"/>
          </a:xfrm>
          <a:prstGeom prst="roundRect">
            <a:avLst>
              <a:gd name="adj" fmla="val 5455"/>
            </a:avLst>
          </a:prstGeom>
          <a:solidFill>
            <a:srgbClr val="5B8A82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237744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97480" y="35204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of every session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80560" y="2377440"/>
            <a:ext cx="274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54880" y="2377440"/>
            <a:ext cx="1783080" cy="1005840"/>
          </a:xfrm>
          <a:prstGeom prst="roundRect">
            <a:avLst>
              <a:gd name="adj" fmla="val 5455"/>
            </a:avLst>
          </a:prstGeom>
          <a:solidFill>
            <a:srgbClr val="1B3A34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237744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35204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change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274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12280" y="2377440"/>
            <a:ext cx="1783080" cy="1005840"/>
          </a:xfrm>
          <a:prstGeom prst="roundRect">
            <a:avLst>
              <a:gd name="adj" fmla="val 5455"/>
            </a:avLst>
          </a:prstGeom>
          <a:solidFill>
            <a:srgbClr val="5B8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237744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"..."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12280" y="35204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with a note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0" y="2377440"/>
            <a:ext cx="274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869680" y="2377440"/>
            <a:ext cx="1783080" cy="1005840"/>
          </a:xfrm>
          <a:prstGeom prst="roundRect">
            <a:avLst>
              <a:gd name="adj" fmla="val 5455"/>
            </a:avLst>
          </a:prstGeom>
          <a:solidFill>
            <a:srgbClr val="1B3A34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0" y="237744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0" y="35204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it up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reference: github-quickstart-cheatsheet.md — keep it linked all semester.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first commit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240487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this repo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318211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resources/welcome-wall.md — add your name + a topic you'd love to analyze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95935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→ git commit -m "..." → git push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709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473659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pull up the commit history together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you Wednesday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Excel work on a dataset about what actually happens to people after they pick a major.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majors. Real earnings and employment data. At least one relationship in there that most people find genuinely surprising.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DSDG DATA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2026-08-01T16:45:35Z</dcterms:created>
  <dcterms:modified xsi:type="dcterms:W3CDTF">2026-08-01T16:45:35Z</dcterms:modified>
</cp:coreProperties>
</file>