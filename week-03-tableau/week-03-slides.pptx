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3F60"/>
        </a:solidFill>
      </p:bgPr>
    </p:bg>
    <p:spTree>
      <p:nvGrpSpPr>
        <p:cNvPr id="1" name=""/>
        <p:cNvGrpSpPr/>
        <p:nvPr/>
      </p:nvGrpSpPr>
      <p:grpSpPr>
        <a:xfrm>
          <a:off x="0" y="0"/>
          <a:ext cx="0" cy="0"/>
          <a:chOff x="0" y="0"/>
          <a:chExt cx="0" cy="0"/>
        </a:xfrm>
      </p:grpSpPr>
      <p:sp>
        <p:nvSpPr>
          <p:cNvPr id="2" name="Text 0"/>
          <p:cNvSpPr/>
          <p:nvPr/>
        </p:nvSpPr>
        <p:spPr>
          <a:xfrm>
            <a:off x="640080" y="548640"/>
            <a:ext cx="7315200" cy="365760"/>
          </a:xfrm>
          <a:prstGeom prst="rect">
            <a:avLst/>
          </a:prstGeom>
          <a:noFill/>
          <a:ln/>
        </p:spPr>
        <p:txBody>
          <a:bodyPr wrap="square" rtlCol="0" anchor="ctr"/>
          <a:lstStyle/>
          <a:p>
            <a:pPr indent="0" marL="0">
              <a:buNone/>
            </a:pPr>
            <a:r>
              <a:rPr lang="en-US" sz="1300" b="1" spc="200" kern="0" dirty="0">
                <a:solidFill>
                  <a:srgbClr val="D97E3F"/>
                </a:solidFill>
                <a:latin typeface="Calibri" pitchFamily="34" charset="0"/>
                <a:ea typeface="Calibri" pitchFamily="34" charset="-122"/>
                <a:cs typeface="Calibri" pitchFamily="34" charset="-120"/>
              </a:rPr>
              <a:t>DATA ANALYTICS BRANCH</a:t>
            </a:r>
            <a:endParaRPr lang="en-US" sz="1300" dirty="0"/>
          </a:p>
        </p:txBody>
      </p:sp>
      <p:sp>
        <p:nvSpPr>
          <p:cNvPr id="3" name="Text 1"/>
          <p:cNvSpPr/>
          <p:nvPr/>
        </p:nvSpPr>
        <p:spPr>
          <a:xfrm>
            <a:off x="640080" y="2286000"/>
            <a:ext cx="10515600" cy="1645920"/>
          </a:xfrm>
          <a:prstGeom prst="rect">
            <a:avLst/>
          </a:prstGeom>
          <a:noFill/>
          <a:ln/>
        </p:spPr>
        <p:txBody>
          <a:bodyPr wrap="square" rtlCol="0" anchor="t"/>
          <a:lstStyle/>
          <a:p>
            <a:pPr indent="0" marL="0">
              <a:buNone/>
            </a:pPr>
            <a:r>
              <a:rPr lang="en-US" sz="4000" b="1" dirty="0">
                <a:solidFill>
                  <a:srgbClr val="FFFFFF"/>
                </a:solidFill>
                <a:latin typeface="Georgia" pitchFamily="34" charset="0"/>
                <a:ea typeface="Georgia" pitchFamily="34" charset="-122"/>
                <a:cs typeface="Georgia" pitchFamily="34" charset="-120"/>
              </a:rPr>
              <a:t>From Spreadsheet</a:t>
            </a:r>
            <a:endParaRPr lang="en-US" sz="4000" dirty="0"/>
          </a:p>
          <a:p>
            <a:pPr indent="0" marL="0">
              <a:buNone/>
            </a:pPr>
            <a:r>
              <a:rPr lang="en-US" sz="4000" b="1" dirty="0">
                <a:solidFill>
                  <a:srgbClr val="FFFFFF"/>
                </a:solidFill>
                <a:latin typeface="Georgia" pitchFamily="34" charset="0"/>
                <a:ea typeface="Georgia" pitchFamily="34" charset="-122"/>
                <a:cs typeface="Georgia" pitchFamily="34" charset="-120"/>
              </a:rPr>
              <a:t>to Dashboard</a:t>
            </a:r>
            <a:endParaRPr lang="en-US" sz="4000" dirty="0"/>
          </a:p>
        </p:txBody>
      </p:sp>
      <p:sp>
        <p:nvSpPr>
          <p:cNvPr id="4" name="Text 2"/>
          <p:cNvSpPr/>
          <p:nvPr/>
        </p:nvSpPr>
        <p:spPr>
          <a:xfrm>
            <a:off x="640080" y="3657600"/>
            <a:ext cx="10058400" cy="731520"/>
          </a:xfrm>
          <a:prstGeom prst="rect">
            <a:avLst/>
          </a:prstGeom>
          <a:noFill/>
          <a:ln/>
        </p:spPr>
        <p:txBody>
          <a:bodyPr wrap="square" rtlCol="0" anchor="ctr"/>
          <a:lstStyle/>
          <a:p>
            <a:pPr indent="0" marL="0">
              <a:buNone/>
            </a:pPr>
            <a:r>
              <a:rPr lang="en-US" sz="1800" dirty="0">
                <a:solidFill>
                  <a:srgbClr val="D6E2EA"/>
                </a:solidFill>
                <a:latin typeface="Calibri" pitchFamily="34" charset="0"/>
                <a:ea typeface="Calibri" pitchFamily="34" charset="-122"/>
                <a:cs typeface="Calibri" pitchFamily="34" charset="-120"/>
              </a:rPr>
              <a:t>DSDG Data Analytics, Week 3, Tableau</a:t>
            </a:r>
            <a:endParaRPr lang="en-US" sz="1800" dirty="0"/>
          </a:p>
        </p:txBody>
      </p:sp>
      <p:sp>
        <p:nvSpPr>
          <p:cNvPr id="5" name="Shape 3"/>
          <p:cNvSpPr/>
          <p:nvPr/>
        </p:nvSpPr>
        <p:spPr>
          <a:xfrm>
            <a:off x="640080" y="2057400"/>
            <a:ext cx="1280160" cy="45720"/>
          </a:xfrm>
          <a:prstGeom prst="rect">
            <a:avLst/>
          </a:prstGeom>
          <a:solidFill>
            <a:srgbClr val="D97E3F"/>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9144000" cy="365760"/>
          </a:xfrm>
          <a:prstGeom prst="rect">
            <a:avLst/>
          </a:prstGeom>
          <a:noFill/>
          <a:ln/>
        </p:spPr>
        <p:txBody>
          <a:bodyPr wrap="square" rtlCol="0" anchor="ctr"/>
          <a:lstStyle/>
          <a:p>
            <a:pPr indent="0" marL="0">
              <a:buNone/>
            </a:pPr>
            <a:r>
              <a:rPr lang="en-US" sz="1200" b="1" spc="200" kern="0" dirty="0">
                <a:solidFill>
                  <a:srgbClr val="D97E3F"/>
                </a:solidFill>
                <a:latin typeface="Calibri" pitchFamily="34" charset="0"/>
                <a:ea typeface="Calibri" pitchFamily="34" charset="-122"/>
                <a:cs typeface="Calibri" pitchFamily="34" charset="-120"/>
              </a:rPr>
              <a:t>BEFORE WE START</a:t>
            </a:r>
            <a:endParaRPr lang="en-US" sz="1200" dirty="0"/>
          </a:p>
        </p:txBody>
      </p:sp>
      <p:sp>
        <p:nvSpPr>
          <p:cNvPr id="3" name="Text 1"/>
          <p:cNvSpPr/>
          <p:nvPr/>
        </p:nvSpPr>
        <p:spPr>
          <a:xfrm>
            <a:off x="640080" y="777240"/>
            <a:ext cx="10515600" cy="822960"/>
          </a:xfrm>
          <a:prstGeom prst="rect">
            <a:avLst/>
          </a:prstGeom>
          <a:noFill/>
          <a:ln/>
        </p:spPr>
        <p:txBody>
          <a:bodyPr wrap="square" rtlCol="0" anchor="ctr"/>
          <a:lstStyle/>
          <a:p>
            <a:pPr indent="0" marL="0">
              <a:buNone/>
            </a:pPr>
            <a:r>
              <a:rPr lang="en-US" sz="2600" b="1" dirty="0">
                <a:solidFill>
                  <a:srgbClr val="1C3F60"/>
                </a:solidFill>
                <a:latin typeface="Georgia" pitchFamily="34" charset="0"/>
                <a:ea typeface="Georgia" pitchFamily="34" charset="-122"/>
                <a:cs typeface="Georgia" pitchFamily="34" charset="-120"/>
              </a:rPr>
              <a:t>Tableau Public, free, Mac or Windows</a:t>
            </a:r>
            <a:endParaRPr lang="en-US" sz="2600" dirty="0"/>
          </a:p>
        </p:txBody>
      </p:sp>
      <p:sp>
        <p:nvSpPr>
          <p:cNvPr id="4" name="Text 2"/>
          <p:cNvSpPr/>
          <p:nvPr/>
        </p:nvSpPr>
        <p:spPr>
          <a:xfrm>
            <a:off x="640080" y="1965960"/>
            <a:ext cx="10058400" cy="548640"/>
          </a:xfrm>
          <a:prstGeom prst="rect">
            <a:avLst/>
          </a:prstGeom>
          <a:noFill/>
          <a:ln/>
        </p:spPr>
        <p:txBody>
          <a:bodyPr wrap="square" rtlCol="0" anchor="ctr"/>
          <a:lstStyle/>
          <a:p>
            <a:pPr indent="0" marL="0">
              <a:buNone/>
            </a:pPr>
            <a:r>
              <a:rPr lang="en-US" sz="1800" b="1" dirty="0">
                <a:solidFill>
                  <a:srgbClr val="1C3F60"/>
                </a:solidFill>
                <a:latin typeface="Calibri" pitchFamily="34" charset="0"/>
                <a:ea typeface="Calibri" pitchFamily="34" charset="-122"/>
                <a:cs typeface="Calibri" pitchFamily="34" charset="-120"/>
              </a:rPr>
              <a:t>Install it before the session: public.tableau.com</a:t>
            </a:r>
            <a:endParaRPr lang="en-US" sz="1800" dirty="0"/>
          </a:p>
        </p:txBody>
      </p:sp>
      <p:sp>
        <p:nvSpPr>
          <p:cNvPr id="5" name="Shape 3"/>
          <p:cNvSpPr/>
          <p:nvPr/>
        </p:nvSpPr>
        <p:spPr>
          <a:xfrm>
            <a:off x="640080" y="2743200"/>
            <a:ext cx="10881360" cy="1188720"/>
          </a:xfrm>
          <a:prstGeom prst="rect">
            <a:avLst/>
          </a:prstGeom>
          <a:solidFill>
            <a:srgbClr val="F4F1EC"/>
          </a:solidFill>
          <a:ln/>
        </p:spPr>
      </p:sp>
      <p:sp>
        <p:nvSpPr>
          <p:cNvPr id="6" name="Text 4"/>
          <p:cNvSpPr/>
          <p:nvPr/>
        </p:nvSpPr>
        <p:spPr>
          <a:xfrm>
            <a:off x="914400" y="2926080"/>
            <a:ext cx="10332720" cy="868680"/>
          </a:xfrm>
          <a:prstGeom prst="rect">
            <a:avLst/>
          </a:prstGeom>
          <a:noFill/>
          <a:ln/>
        </p:spPr>
        <p:txBody>
          <a:bodyPr wrap="square" rtlCol="0" anchor="ctr"/>
          <a:lstStyle/>
          <a:p>
            <a:pPr indent="0" marL="0">
              <a:buNone/>
            </a:pPr>
            <a:r>
              <a:rPr lang="en-US" sz="1350" dirty="0">
                <a:solidFill>
                  <a:srgbClr val="2A2A2A"/>
                </a:solidFill>
                <a:latin typeface="Calibri" pitchFamily="34" charset="0"/>
                <a:ea typeface="Calibri" pitchFamily="34" charset="-122"/>
                <a:cs typeface="Calibri" pitchFamily="34" charset="-120"/>
              </a:rPr>
              <a:t>One trade off: Tableau Public saves workbooks to Tableau's public servers, visible to anyone. Fine for today's dataset, since it is already public government data. Worth knowing before you publish something later you would rather keep private.</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9144000" cy="365760"/>
          </a:xfrm>
          <a:prstGeom prst="rect">
            <a:avLst/>
          </a:prstGeom>
          <a:noFill/>
          <a:ln/>
        </p:spPr>
        <p:txBody>
          <a:bodyPr wrap="square" rtlCol="0" anchor="ctr"/>
          <a:lstStyle/>
          <a:p>
            <a:pPr indent="0" marL="0">
              <a:buNone/>
            </a:pPr>
            <a:r>
              <a:rPr lang="en-US" sz="1200" b="1" spc="200" kern="0" dirty="0">
                <a:solidFill>
                  <a:srgbClr val="D97E3F"/>
                </a:solidFill>
                <a:latin typeface="Calibri" pitchFamily="34" charset="0"/>
                <a:ea typeface="Calibri" pitchFamily="34" charset="-122"/>
                <a:cs typeface="Calibri" pitchFamily="34" charset="-120"/>
              </a:rPr>
              <a:t>WHAT ANALYSTS BUILD DASHBOARDS FOR</a:t>
            </a:r>
            <a:endParaRPr lang="en-US" sz="1200" dirty="0"/>
          </a:p>
        </p:txBody>
      </p:sp>
      <p:sp>
        <p:nvSpPr>
          <p:cNvPr id="3" name="Text 1"/>
          <p:cNvSpPr/>
          <p:nvPr/>
        </p:nvSpPr>
        <p:spPr>
          <a:xfrm>
            <a:off x="640080" y="777240"/>
            <a:ext cx="10515600" cy="822960"/>
          </a:xfrm>
          <a:prstGeom prst="rect">
            <a:avLst/>
          </a:prstGeom>
          <a:noFill/>
          <a:ln/>
        </p:spPr>
        <p:txBody>
          <a:bodyPr wrap="square" rtlCol="0" anchor="ctr"/>
          <a:lstStyle/>
          <a:p>
            <a:pPr indent="0" marL="0">
              <a:buNone/>
            </a:pPr>
            <a:r>
              <a:rPr lang="en-US" sz="2600" b="1" dirty="0">
                <a:solidFill>
                  <a:srgbClr val="1C3F60"/>
                </a:solidFill>
                <a:latin typeface="Georgia" pitchFamily="34" charset="0"/>
                <a:ea typeface="Georgia" pitchFamily="34" charset="-122"/>
                <a:cs typeface="Georgia" pitchFamily="34" charset="-120"/>
              </a:rPr>
              <a:t>Two different jobs</a:t>
            </a:r>
            <a:endParaRPr lang="en-US" sz="2600" dirty="0"/>
          </a:p>
        </p:txBody>
      </p:sp>
      <p:sp>
        <p:nvSpPr>
          <p:cNvPr id="4" name="Shape 2"/>
          <p:cNvSpPr/>
          <p:nvPr/>
        </p:nvSpPr>
        <p:spPr>
          <a:xfrm>
            <a:off x="640080" y="1965960"/>
            <a:ext cx="5257800" cy="3383280"/>
          </a:xfrm>
          <a:prstGeom prst="rect">
            <a:avLst/>
          </a:prstGeom>
          <a:solidFill>
            <a:srgbClr val="1C3F60"/>
          </a:solidFill>
          <a:ln/>
        </p:spPr>
      </p:sp>
      <p:sp>
        <p:nvSpPr>
          <p:cNvPr id="5" name="Text 3"/>
          <p:cNvSpPr/>
          <p:nvPr/>
        </p:nvSpPr>
        <p:spPr>
          <a:xfrm>
            <a:off x="914400" y="2240280"/>
            <a:ext cx="4709160" cy="365760"/>
          </a:xfrm>
          <a:prstGeom prst="rect">
            <a:avLst/>
          </a:prstGeom>
          <a:noFill/>
          <a:ln/>
        </p:spPr>
        <p:txBody>
          <a:bodyPr wrap="square" rtlCol="0" anchor="ctr"/>
          <a:lstStyle/>
          <a:p>
            <a:pPr indent="0" marL="0">
              <a:buNone/>
            </a:pPr>
            <a:r>
              <a:rPr lang="en-US" sz="1200" b="1" spc="150" kern="0" dirty="0">
                <a:solidFill>
                  <a:srgbClr val="D97E3F"/>
                </a:solidFill>
                <a:latin typeface="Calibri" pitchFamily="34" charset="0"/>
                <a:ea typeface="Calibri" pitchFamily="34" charset="-122"/>
                <a:cs typeface="Calibri" pitchFamily="34" charset="-120"/>
              </a:rPr>
              <a:t>EXECUTIVE</a:t>
            </a:r>
            <a:endParaRPr lang="en-US" sz="1200" dirty="0"/>
          </a:p>
        </p:txBody>
      </p:sp>
      <p:sp>
        <p:nvSpPr>
          <p:cNvPr id="6" name="Text 4"/>
          <p:cNvSpPr/>
          <p:nvPr/>
        </p:nvSpPr>
        <p:spPr>
          <a:xfrm>
            <a:off x="914400" y="2697480"/>
            <a:ext cx="4709160" cy="2286000"/>
          </a:xfrm>
          <a:prstGeom prst="rect">
            <a:avLst/>
          </a:prstGeom>
          <a:noFill/>
          <a:ln/>
        </p:spPr>
        <p:txBody>
          <a:bodyPr wrap="square" rtlCol="0" anchor="t"/>
          <a:lstStyle/>
          <a:p>
            <a:pPr indent="0" marL="0">
              <a:buNone/>
            </a:pPr>
            <a:r>
              <a:rPr lang="en-US" sz="1500" dirty="0">
                <a:solidFill>
                  <a:srgbClr val="FFFFFF"/>
                </a:solidFill>
                <a:latin typeface="Calibri" pitchFamily="34" charset="0"/>
                <a:ea typeface="Calibri" pitchFamily="34" charset="-122"/>
                <a:cs typeface="Calibri" pitchFamily="34" charset="-120"/>
              </a:rPr>
              <a:t>Looked at for seconds, not minutes. High level, an obvious sense of good or bad. Consumed passively.</a:t>
            </a:r>
            <a:endParaRPr lang="en-US" sz="1500" dirty="0"/>
          </a:p>
        </p:txBody>
      </p:sp>
      <p:sp>
        <p:nvSpPr>
          <p:cNvPr id="7" name="Shape 5"/>
          <p:cNvSpPr/>
          <p:nvPr/>
        </p:nvSpPr>
        <p:spPr>
          <a:xfrm>
            <a:off x="6263640" y="1965960"/>
            <a:ext cx="5257800" cy="3383280"/>
          </a:xfrm>
          <a:prstGeom prst="rect">
            <a:avLst/>
          </a:prstGeom>
          <a:solidFill>
            <a:srgbClr val="F4F1EC"/>
          </a:solidFill>
          <a:ln/>
        </p:spPr>
      </p:sp>
      <p:sp>
        <p:nvSpPr>
          <p:cNvPr id="8" name="Text 6"/>
          <p:cNvSpPr/>
          <p:nvPr/>
        </p:nvSpPr>
        <p:spPr>
          <a:xfrm>
            <a:off x="6537960" y="2240280"/>
            <a:ext cx="4709160" cy="365760"/>
          </a:xfrm>
          <a:prstGeom prst="rect">
            <a:avLst/>
          </a:prstGeom>
          <a:noFill/>
          <a:ln/>
        </p:spPr>
        <p:txBody>
          <a:bodyPr wrap="square" rtlCol="0" anchor="ctr"/>
          <a:lstStyle/>
          <a:p>
            <a:pPr indent="0" marL="0">
              <a:buNone/>
            </a:pPr>
            <a:r>
              <a:rPr lang="en-US" sz="1200" b="1" spc="150" kern="0" dirty="0">
                <a:solidFill>
                  <a:srgbClr val="D97E3F"/>
                </a:solidFill>
                <a:latin typeface="Calibri" pitchFamily="34" charset="0"/>
                <a:ea typeface="Calibri" pitchFamily="34" charset="-122"/>
                <a:cs typeface="Calibri" pitchFamily="34" charset="-120"/>
              </a:rPr>
              <a:t>ANALYST</a:t>
            </a:r>
            <a:endParaRPr lang="en-US" sz="1200" dirty="0"/>
          </a:p>
        </p:txBody>
      </p:sp>
      <p:sp>
        <p:nvSpPr>
          <p:cNvPr id="9" name="Text 7"/>
          <p:cNvSpPr/>
          <p:nvPr/>
        </p:nvSpPr>
        <p:spPr>
          <a:xfrm>
            <a:off x="6537960" y="2697480"/>
            <a:ext cx="4709160" cy="2286000"/>
          </a:xfrm>
          <a:prstGeom prst="rect">
            <a:avLst/>
          </a:prstGeom>
          <a:noFill/>
          <a:ln/>
        </p:spPr>
        <p:txBody>
          <a:bodyPr wrap="square" rtlCol="0" anchor="t"/>
          <a:lstStyle/>
          <a:p>
            <a:pPr indent="0" marL="0">
              <a:buNone/>
            </a:pPr>
            <a:r>
              <a:rPr lang="en-US" sz="1500" dirty="0">
                <a:solidFill>
                  <a:srgbClr val="2A2A2A"/>
                </a:solidFill>
                <a:latin typeface="Calibri" pitchFamily="34" charset="0"/>
                <a:ea typeface="Calibri" pitchFamily="34" charset="-122"/>
                <a:cs typeface="Calibri" pitchFamily="34" charset="-120"/>
              </a:rPr>
              <a:t>Worked in actively, filtered, drilled into, cross referenced. Built to hunt down why a number moved.</a:t>
            </a:r>
            <a:endParaRPr lang="en-US" sz="1500" dirty="0"/>
          </a:p>
        </p:txBody>
      </p:sp>
      <p:sp>
        <p:nvSpPr>
          <p:cNvPr id="10" name="Text 8"/>
          <p:cNvSpPr/>
          <p:nvPr/>
        </p:nvSpPr>
        <p:spPr>
          <a:xfrm>
            <a:off x="640080" y="5623560"/>
            <a:ext cx="10515600" cy="457200"/>
          </a:xfrm>
          <a:prstGeom prst="rect">
            <a:avLst/>
          </a:prstGeom>
          <a:noFill/>
          <a:ln/>
        </p:spPr>
        <p:txBody>
          <a:bodyPr wrap="square" rtlCol="0" anchor="ctr"/>
          <a:lstStyle/>
          <a:p>
            <a:pPr indent="0" marL="0">
              <a:buNone/>
            </a:pPr>
            <a:r>
              <a:rPr lang="en-US" sz="1400" i="1" dirty="0">
                <a:solidFill>
                  <a:srgbClr val="6B6B6B"/>
                </a:solidFill>
                <a:latin typeface="Calibri" pitchFamily="34" charset="0"/>
                <a:ea typeface="Calibri" pitchFamily="34" charset="-122"/>
                <a:cs typeface="Calibri" pitchFamily="34" charset="-120"/>
              </a:rPr>
              <a:t>A dashboard trying to be both usually fails at both. Know which one you are building.</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9144000" cy="365760"/>
          </a:xfrm>
          <a:prstGeom prst="rect">
            <a:avLst/>
          </a:prstGeom>
          <a:noFill/>
          <a:ln/>
        </p:spPr>
        <p:txBody>
          <a:bodyPr wrap="square" rtlCol="0" anchor="ctr"/>
          <a:lstStyle/>
          <a:p>
            <a:pPr indent="0" marL="0">
              <a:buNone/>
            </a:pPr>
            <a:r>
              <a:rPr lang="en-US" sz="1200" b="1" spc="200" kern="0" dirty="0">
                <a:solidFill>
                  <a:srgbClr val="D97E3F"/>
                </a:solidFill>
                <a:latin typeface="Calibri" pitchFamily="34" charset="0"/>
                <a:ea typeface="Calibri" pitchFamily="34" charset="-122"/>
                <a:cs typeface="Calibri" pitchFamily="34" charset="-120"/>
              </a:rPr>
              <a:t>GOOD VERSUS BUSY</a:t>
            </a:r>
            <a:endParaRPr lang="en-US" sz="1200" dirty="0"/>
          </a:p>
        </p:txBody>
      </p:sp>
      <p:sp>
        <p:nvSpPr>
          <p:cNvPr id="3" name="Text 1"/>
          <p:cNvSpPr/>
          <p:nvPr/>
        </p:nvSpPr>
        <p:spPr>
          <a:xfrm>
            <a:off x="640080" y="777240"/>
            <a:ext cx="10515600" cy="822960"/>
          </a:xfrm>
          <a:prstGeom prst="rect">
            <a:avLst/>
          </a:prstGeom>
          <a:noFill/>
          <a:ln/>
        </p:spPr>
        <p:txBody>
          <a:bodyPr wrap="square" rtlCol="0" anchor="ctr"/>
          <a:lstStyle/>
          <a:p>
            <a:pPr indent="0" marL="0">
              <a:buNone/>
            </a:pPr>
            <a:r>
              <a:rPr lang="en-US" sz="2600" b="1" dirty="0">
                <a:solidFill>
                  <a:srgbClr val="1C3F60"/>
                </a:solidFill>
                <a:latin typeface="Georgia" pitchFamily="34" charset="0"/>
                <a:ea typeface="Georgia" pitchFamily="34" charset="-122"/>
                <a:cs typeface="Georgia" pitchFamily="34" charset="-120"/>
              </a:rPr>
              <a:t>What separates them</a:t>
            </a:r>
            <a:endParaRPr lang="en-US" sz="2600" dirty="0"/>
          </a:p>
        </p:txBody>
      </p:sp>
      <p:sp>
        <p:nvSpPr>
          <p:cNvPr id="4" name="Shape 2"/>
          <p:cNvSpPr/>
          <p:nvPr/>
        </p:nvSpPr>
        <p:spPr>
          <a:xfrm>
            <a:off x="640080" y="2039112"/>
            <a:ext cx="109728" cy="109728"/>
          </a:xfrm>
          <a:prstGeom prst="rect">
            <a:avLst/>
          </a:prstGeom>
          <a:solidFill>
            <a:srgbClr val="D97E3F"/>
          </a:solidFill>
          <a:ln/>
        </p:spPr>
      </p:sp>
      <p:sp>
        <p:nvSpPr>
          <p:cNvPr id="5" name="Text 3"/>
          <p:cNvSpPr/>
          <p:nvPr/>
        </p:nvSpPr>
        <p:spPr>
          <a:xfrm>
            <a:off x="960120" y="1965960"/>
            <a:ext cx="10241280" cy="548640"/>
          </a:xfrm>
          <a:prstGeom prst="rect">
            <a:avLst/>
          </a:prstGeom>
          <a:noFill/>
          <a:ln/>
        </p:spPr>
        <p:txBody>
          <a:bodyPr wrap="square" rtlCol="0" anchor="t"/>
          <a:lstStyle/>
          <a:p>
            <a:pPr indent="0" marL="0">
              <a:buNone/>
            </a:pPr>
            <a:r>
              <a:rPr lang="en-US" sz="1600" dirty="0">
                <a:solidFill>
                  <a:srgbClr val="2A2A2A"/>
                </a:solidFill>
                <a:latin typeface="Calibri" pitchFamily="34" charset="0"/>
                <a:ea typeface="Calibri" pitchFamily="34" charset="-122"/>
                <a:cs typeface="Calibri" pitchFamily="34" charset="-120"/>
              </a:rPr>
              <a:t>The main point reads in five seconds, or the format is wrong.</a:t>
            </a:r>
            <a:endParaRPr lang="en-US" sz="1600" dirty="0"/>
          </a:p>
        </p:txBody>
      </p:sp>
      <p:sp>
        <p:nvSpPr>
          <p:cNvPr id="6" name="Shape 4"/>
          <p:cNvSpPr/>
          <p:nvPr/>
        </p:nvSpPr>
        <p:spPr>
          <a:xfrm>
            <a:off x="640080" y="2724912"/>
            <a:ext cx="109728" cy="109728"/>
          </a:xfrm>
          <a:prstGeom prst="rect">
            <a:avLst/>
          </a:prstGeom>
          <a:solidFill>
            <a:srgbClr val="D97E3F"/>
          </a:solidFill>
          <a:ln/>
        </p:spPr>
      </p:sp>
      <p:sp>
        <p:nvSpPr>
          <p:cNvPr id="7" name="Text 5"/>
          <p:cNvSpPr/>
          <p:nvPr/>
        </p:nvSpPr>
        <p:spPr>
          <a:xfrm>
            <a:off x="960120" y="2651760"/>
            <a:ext cx="10241280" cy="548640"/>
          </a:xfrm>
          <a:prstGeom prst="rect">
            <a:avLst/>
          </a:prstGeom>
          <a:noFill/>
          <a:ln/>
        </p:spPr>
        <p:txBody>
          <a:bodyPr wrap="square" rtlCol="0" anchor="t"/>
          <a:lstStyle/>
          <a:p>
            <a:pPr indent="0" marL="0">
              <a:buNone/>
            </a:pPr>
            <a:r>
              <a:rPr lang="en-US" sz="1600" dirty="0">
                <a:solidFill>
                  <a:srgbClr val="2A2A2A"/>
                </a:solidFill>
                <a:latin typeface="Calibri" pitchFamily="34" charset="0"/>
                <a:ea typeface="Calibri" pitchFamily="34" charset="-122"/>
                <a:cs typeface="Calibri" pitchFamily="34" charset="-120"/>
              </a:rPr>
              <a:t>Five to nine key numbers on screen, not twenty.</a:t>
            </a:r>
            <a:endParaRPr lang="en-US" sz="1600" dirty="0"/>
          </a:p>
        </p:txBody>
      </p:sp>
      <p:sp>
        <p:nvSpPr>
          <p:cNvPr id="8" name="Shape 6"/>
          <p:cNvSpPr/>
          <p:nvPr/>
        </p:nvSpPr>
        <p:spPr>
          <a:xfrm>
            <a:off x="640080" y="3410712"/>
            <a:ext cx="109728" cy="109728"/>
          </a:xfrm>
          <a:prstGeom prst="rect">
            <a:avLst/>
          </a:prstGeom>
          <a:solidFill>
            <a:srgbClr val="D97E3F"/>
          </a:solidFill>
          <a:ln/>
        </p:spPr>
      </p:sp>
      <p:sp>
        <p:nvSpPr>
          <p:cNvPr id="9" name="Text 7"/>
          <p:cNvSpPr/>
          <p:nvPr/>
        </p:nvSpPr>
        <p:spPr>
          <a:xfrm>
            <a:off x="960120" y="3337560"/>
            <a:ext cx="10241280" cy="548640"/>
          </a:xfrm>
          <a:prstGeom prst="rect">
            <a:avLst/>
          </a:prstGeom>
          <a:noFill/>
          <a:ln/>
        </p:spPr>
        <p:txBody>
          <a:bodyPr wrap="square" rtlCol="0" anchor="t"/>
          <a:lstStyle/>
          <a:p>
            <a:pPr indent="0" marL="0">
              <a:buNone/>
            </a:pPr>
            <a:r>
              <a:rPr lang="en-US" sz="1600" dirty="0">
                <a:solidFill>
                  <a:srgbClr val="2A2A2A"/>
                </a:solidFill>
                <a:latin typeface="Calibri" pitchFamily="34" charset="0"/>
                <a:ea typeface="Calibri" pitchFamily="34" charset="-122"/>
                <a:cs typeface="Calibri" pitchFamily="34" charset="-120"/>
              </a:rPr>
              <a:t>Every number has something to compare against: a target, a prior period.</a:t>
            </a:r>
            <a:endParaRPr lang="en-US" sz="1600" dirty="0"/>
          </a:p>
        </p:txBody>
      </p:sp>
      <p:sp>
        <p:nvSpPr>
          <p:cNvPr id="10" name="Shape 8"/>
          <p:cNvSpPr/>
          <p:nvPr/>
        </p:nvSpPr>
        <p:spPr>
          <a:xfrm>
            <a:off x="640080" y="4096512"/>
            <a:ext cx="109728" cy="109728"/>
          </a:xfrm>
          <a:prstGeom prst="rect">
            <a:avLst/>
          </a:prstGeom>
          <a:solidFill>
            <a:srgbClr val="D97E3F"/>
          </a:solidFill>
          <a:ln/>
        </p:spPr>
      </p:sp>
      <p:sp>
        <p:nvSpPr>
          <p:cNvPr id="11" name="Text 9"/>
          <p:cNvSpPr/>
          <p:nvPr/>
        </p:nvSpPr>
        <p:spPr>
          <a:xfrm>
            <a:off x="960120" y="4023360"/>
            <a:ext cx="10241280" cy="548640"/>
          </a:xfrm>
          <a:prstGeom prst="rect">
            <a:avLst/>
          </a:prstGeom>
          <a:noFill/>
          <a:ln/>
        </p:spPr>
        <p:txBody>
          <a:bodyPr wrap="square" rtlCol="0" anchor="t"/>
          <a:lstStyle/>
          <a:p>
            <a:pPr indent="0" marL="0">
              <a:buNone/>
            </a:pPr>
            <a:r>
              <a:rPr lang="en-US" sz="1600" dirty="0">
                <a:solidFill>
                  <a:srgbClr val="2A2A2A"/>
                </a:solidFill>
                <a:latin typeface="Calibri" pitchFamily="34" charset="0"/>
                <a:ea typeface="Calibri" pitchFamily="34" charset="-122"/>
                <a:cs typeface="Calibri" pitchFamily="34" charset="-120"/>
              </a:rPr>
              <a:t>The most important number: biggest, top left.</a:t>
            </a:r>
            <a:endParaRPr lang="en-US" sz="1600" dirty="0"/>
          </a:p>
        </p:txBody>
      </p:sp>
      <p:sp>
        <p:nvSpPr>
          <p:cNvPr id="12" name="Shape 10"/>
          <p:cNvSpPr/>
          <p:nvPr/>
        </p:nvSpPr>
        <p:spPr>
          <a:xfrm>
            <a:off x="640080" y="4782312"/>
            <a:ext cx="109728" cy="109728"/>
          </a:xfrm>
          <a:prstGeom prst="rect">
            <a:avLst/>
          </a:prstGeom>
          <a:solidFill>
            <a:srgbClr val="D97E3F"/>
          </a:solidFill>
          <a:ln/>
        </p:spPr>
      </p:sp>
      <p:sp>
        <p:nvSpPr>
          <p:cNvPr id="13" name="Text 11"/>
          <p:cNvSpPr/>
          <p:nvPr/>
        </p:nvSpPr>
        <p:spPr>
          <a:xfrm>
            <a:off x="960120" y="4709160"/>
            <a:ext cx="10241280" cy="548640"/>
          </a:xfrm>
          <a:prstGeom prst="rect">
            <a:avLst/>
          </a:prstGeom>
          <a:noFill/>
          <a:ln/>
        </p:spPr>
        <p:txBody>
          <a:bodyPr wrap="square" rtlCol="0" anchor="t"/>
          <a:lstStyle/>
          <a:p>
            <a:pPr indent="0" marL="0">
              <a:buNone/>
            </a:pPr>
            <a:r>
              <a:rPr lang="en-US" sz="1600" dirty="0">
                <a:solidFill>
                  <a:srgbClr val="2A2A2A"/>
                </a:solidFill>
                <a:latin typeface="Calibri" pitchFamily="34" charset="0"/>
                <a:ea typeface="Calibri" pitchFamily="34" charset="-122"/>
                <a:cs typeface="Calibri" pitchFamily="34" charset="-120"/>
              </a:rPr>
              <a:t>No 3D charts. Simplest chart that makes the point wins.</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9144000" cy="365760"/>
          </a:xfrm>
          <a:prstGeom prst="rect">
            <a:avLst/>
          </a:prstGeom>
          <a:noFill/>
          <a:ln/>
        </p:spPr>
        <p:txBody>
          <a:bodyPr wrap="square" rtlCol="0" anchor="ctr"/>
          <a:lstStyle/>
          <a:p>
            <a:pPr indent="0" marL="0">
              <a:buNone/>
            </a:pPr>
            <a:r>
              <a:rPr lang="en-US" sz="1200" b="1" spc="200" kern="0" dirty="0">
                <a:solidFill>
                  <a:srgbClr val="D97E3F"/>
                </a:solidFill>
                <a:latin typeface="Calibri" pitchFamily="34" charset="0"/>
                <a:ea typeface="Calibri" pitchFamily="34" charset="-122"/>
                <a:cs typeface="Calibri" pitchFamily="34" charset="-120"/>
              </a:rPr>
              <a:t>BEFORE YOU BUILD</a:t>
            </a:r>
            <a:endParaRPr lang="en-US" sz="1200" dirty="0"/>
          </a:p>
        </p:txBody>
      </p:sp>
      <p:sp>
        <p:nvSpPr>
          <p:cNvPr id="3" name="Text 1"/>
          <p:cNvSpPr/>
          <p:nvPr/>
        </p:nvSpPr>
        <p:spPr>
          <a:xfrm>
            <a:off x="640080" y="777240"/>
            <a:ext cx="10515600" cy="822960"/>
          </a:xfrm>
          <a:prstGeom prst="rect">
            <a:avLst/>
          </a:prstGeom>
          <a:noFill/>
          <a:ln/>
        </p:spPr>
        <p:txBody>
          <a:bodyPr wrap="square" rtlCol="0" anchor="ctr"/>
          <a:lstStyle/>
          <a:p>
            <a:pPr indent="0" marL="0">
              <a:buNone/>
            </a:pPr>
            <a:r>
              <a:rPr lang="en-US" sz="2600" b="1" dirty="0">
                <a:solidFill>
                  <a:srgbClr val="1C3F60"/>
                </a:solidFill>
                <a:latin typeface="Georgia" pitchFamily="34" charset="0"/>
                <a:ea typeface="Georgia" pitchFamily="34" charset="-122"/>
                <a:cs typeface="Georgia" pitchFamily="34" charset="-120"/>
              </a:rPr>
              <a:t>Look at what good already looks like</a:t>
            </a:r>
            <a:endParaRPr lang="en-US" sz="2600" dirty="0"/>
          </a:p>
        </p:txBody>
      </p:sp>
      <p:sp>
        <p:nvSpPr>
          <p:cNvPr id="4" name="Shape 2"/>
          <p:cNvSpPr/>
          <p:nvPr/>
        </p:nvSpPr>
        <p:spPr>
          <a:xfrm>
            <a:off x="640080" y="2103120"/>
            <a:ext cx="5257800" cy="2651760"/>
          </a:xfrm>
          <a:prstGeom prst="rect">
            <a:avLst/>
          </a:prstGeom>
          <a:solidFill>
            <a:srgbClr val="F4F1EC"/>
          </a:solidFill>
          <a:ln/>
        </p:spPr>
      </p:sp>
      <p:sp>
        <p:nvSpPr>
          <p:cNvPr id="5" name="Text 3"/>
          <p:cNvSpPr/>
          <p:nvPr/>
        </p:nvSpPr>
        <p:spPr>
          <a:xfrm>
            <a:off x="914400" y="2377440"/>
            <a:ext cx="4709160" cy="457200"/>
          </a:xfrm>
          <a:prstGeom prst="rect">
            <a:avLst/>
          </a:prstGeom>
          <a:noFill/>
          <a:ln/>
        </p:spPr>
        <p:txBody>
          <a:bodyPr wrap="square" rtlCol="0" anchor="ctr"/>
          <a:lstStyle/>
          <a:p>
            <a:pPr indent="0" marL="0">
              <a:buNone/>
            </a:pPr>
            <a:r>
              <a:rPr lang="en-US" sz="1800" b="1" dirty="0">
                <a:solidFill>
                  <a:srgbClr val="1C3F60"/>
                </a:solidFill>
                <a:latin typeface="Georgia" pitchFamily="34" charset="0"/>
                <a:ea typeface="Georgia" pitchFamily="34" charset="-122"/>
                <a:cs typeface="Georgia" pitchFamily="34" charset="-120"/>
              </a:rPr>
              <a:t>Tableau Public Gallery</a:t>
            </a:r>
            <a:endParaRPr lang="en-US" sz="1800" dirty="0"/>
          </a:p>
        </p:txBody>
      </p:sp>
      <p:sp>
        <p:nvSpPr>
          <p:cNvPr id="6" name="Text 4"/>
          <p:cNvSpPr/>
          <p:nvPr/>
        </p:nvSpPr>
        <p:spPr>
          <a:xfrm>
            <a:off x="914400" y="2880360"/>
            <a:ext cx="4709160" cy="365760"/>
          </a:xfrm>
          <a:prstGeom prst="rect">
            <a:avLst/>
          </a:prstGeom>
          <a:noFill/>
          <a:ln/>
        </p:spPr>
        <p:txBody>
          <a:bodyPr wrap="square" rtlCol="0" anchor="ctr"/>
          <a:lstStyle/>
          <a:p>
            <a:pPr indent="0" marL="0">
              <a:buNone/>
            </a:pPr>
            <a:r>
              <a:rPr lang="en-US" sz="1300" dirty="0">
                <a:solidFill>
                  <a:srgbClr val="D97E3F"/>
                </a:solidFill>
                <a:latin typeface="Courier New" pitchFamily="34" charset="0"/>
                <a:ea typeface="Courier New" pitchFamily="34" charset="-122"/>
                <a:cs typeface="Courier New" pitchFamily="34" charset="-120"/>
              </a:rPr>
              <a:t>public.tableau.com/app</a:t>
            </a:r>
            <a:endParaRPr lang="en-US" sz="1300" dirty="0"/>
          </a:p>
        </p:txBody>
      </p:sp>
      <p:sp>
        <p:nvSpPr>
          <p:cNvPr id="7" name="Text 5"/>
          <p:cNvSpPr/>
          <p:nvPr/>
        </p:nvSpPr>
        <p:spPr>
          <a:xfrm>
            <a:off x="914400" y="3383280"/>
            <a:ext cx="4709160" cy="1097280"/>
          </a:xfrm>
          <a:prstGeom prst="rect">
            <a:avLst/>
          </a:prstGeom>
          <a:noFill/>
          <a:ln/>
        </p:spPr>
        <p:txBody>
          <a:bodyPr wrap="square" rtlCol="0" anchor="t"/>
          <a:lstStyle/>
          <a:p>
            <a:pPr indent="0" marL="0">
              <a:buNone/>
            </a:pPr>
            <a:r>
              <a:rPr lang="en-US" sz="1300" dirty="0">
                <a:solidFill>
                  <a:srgbClr val="2A2A2A"/>
                </a:solidFill>
                <a:latin typeface="Calibri" pitchFamily="34" charset="0"/>
                <a:ea typeface="Calibri" pitchFamily="34" charset="-122"/>
                <a:cs typeface="Calibri" pitchFamily="34" charset="-120"/>
              </a:rPr>
              <a:t>Browse by topic, sorted by what is currently featured.</a:t>
            </a:r>
            <a:endParaRPr lang="en-US" sz="1300" dirty="0"/>
          </a:p>
        </p:txBody>
      </p:sp>
      <p:sp>
        <p:nvSpPr>
          <p:cNvPr id="8" name="Shape 6"/>
          <p:cNvSpPr/>
          <p:nvPr/>
        </p:nvSpPr>
        <p:spPr>
          <a:xfrm>
            <a:off x="6263640" y="2103120"/>
            <a:ext cx="5257800" cy="2651760"/>
          </a:xfrm>
          <a:prstGeom prst="rect">
            <a:avLst/>
          </a:prstGeom>
          <a:solidFill>
            <a:srgbClr val="F4F1EC"/>
          </a:solidFill>
          <a:ln/>
        </p:spPr>
      </p:sp>
      <p:sp>
        <p:nvSpPr>
          <p:cNvPr id="9" name="Text 7"/>
          <p:cNvSpPr/>
          <p:nvPr/>
        </p:nvSpPr>
        <p:spPr>
          <a:xfrm>
            <a:off x="6537960" y="2377440"/>
            <a:ext cx="4709160" cy="457200"/>
          </a:xfrm>
          <a:prstGeom prst="rect">
            <a:avLst/>
          </a:prstGeom>
          <a:noFill/>
          <a:ln/>
        </p:spPr>
        <p:txBody>
          <a:bodyPr wrap="square" rtlCol="0" anchor="ctr"/>
          <a:lstStyle/>
          <a:p>
            <a:pPr indent="0" marL="0">
              <a:buNone/>
            </a:pPr>
            <a:r>
              <a:rPr lang="en-US" sz="1800" b="1" dirty="0">
                <a:solidFill>
                  <a:srgbClr val="1C3F60"/>
                </a:solidFill>
                <a:latin typeface="Georgia" pitchFamily="34" charset="0"/>
                <a:ea typeface="Georgia" pitchFamily="34" charset="-122"/>
                <a:cs typeface="Georgia" pitchFamily="34" charset="-120"/>
              </a:rPr>
              <a:t>Makeover Monday</a:t>
            </a:r>
            <a:endParaRPr lang="en-US" sz="1800" dirty="0"/>
          </a:p>
        </p:txBody>
      </p:sp>
      <p:sp>
        <p:nvSpPr>
          <p:cNvPr id="10" name="Text 8"/>
          <p:cNvSpPr/>
          <p:nvPr/>
        </p:nvSpPr>
        <p:spPr>
          <a:xfrm>
            <a:off x="6537960" y="2880360"/>
            <a:ext cx="4709160" cy="365760"/>
          </a:xfrm>
          <a:prstGeom prst="rect">
            <a:avLst/>
          </a:prstGeom>
          <a:noFill/>
          <a:ln/>
        </p:spPr>
        <p:txBody>
          <a:bodyPr wrap="square" rtlCol="0" anchor="ctr"/>
          <a:lstStyle/>
          <a:p>
            <a:pPr indent="0" marL="0">
              <a:buNone/>
            </a:pPr>
            <a:r>
              <a:rPr lang="en-US" sz="1300" dirty="0">
                <a:solidFill>
                  <a:srgbClr val="D97E3F"/>
                </a:solidFill>
                <a:latin typeface="Courier New" pitchFamily="34" charset="0"/>
                <a:ea typeface="Courier New" pitchFamily="34" charset="-122"/>
                <a:cs typeface="Courier New" pitchFamily="34" charset="-120"/>
              </a:rPr>
              <a:t>makeovermonday.co.uk</a:t>
            </a:r>
            <a:endParaRPr lang="en-US" sz="1300" dirty="0"/>
          </a:p>
        </p:txBody>
      </p:sp>
      <p:sp>
        <p:nvSpPr>
          <p:cNvPr id="11" name="Text 9"/>
          <p:cNvSpPr/>
          <p:nvPr/>
        </p:nvSpPr>
        <p:spPr>
          <a:xfrm>
            <a:off x="6537960" y="3383280"/>
            <a:ext cx="4709160" cy="1280160"/>
          </a:xfrm>
          <a:prstGeom prst="rect">
            <a:avLst/>
          </a:prstGeom>
          <a:noFill/>
          <a:ln/>
        </p:spPr>
        <p:txBody>
          <a:bodyPr wrap="square" rtlCol="0" anchor="t"/>
          <a:lstStyle/>
          <a:p>
            <a:pPr indent="0" marL="0">
              <a:buNone/>
            </a:pPr>
            <a:r>
              <a:rPr lang="en-US" sz="1300" dirty="0">
                <a:solidFill>
                  <a:srgbClr val="2A2A2A"/>
                </a:solidFill>
                <a:latin typeface="Calibri" pitchFamily="34" charset="0"/>
                <a:ea typeface="Calibri" pitchFamily="34" charset="-122"/>
                <a:cs typeface="Calibri" pitchFamily="34" charset="-120"/>
              </a:rPr>
              <a:t>A weekly project where people rebuild the same chart better. Five takes on one dataset makes good versus busy concrete.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9144000" cy="365760"/>
          </a:xfrm>
          <a:prstGeom prst="rect">
            <a:avLst/>
          </a:prstGeom>
          <a:noFill/>
          <a:ln/>
        </p:spPr>
        <p:txBody>
          <a:bodyPr wrap="square" rtlCol="0" anchor="ctr"/>
          <a:lstStyle/>
          <a:p>
            <a:pPr indent="0" marL="0">
              <a:buNone/>
            </a:pPr>
            <a:r>
              <a:rPr lang="en-US" sz="1200" b="1" spc="200" kern="0" dirty="0">
                <a:solidFill>
                  <a:srgbClr val="D97E3F"/>
                </a:solidFill>
                <a:latin typeface="Calibri" pitchFamily="34" charset="0"/>
                <a:ea typeface="Calibri" pitchFamily="34" charset="-122"/>
                <a:cs typeface="Calibri" pitchFamily="34" charset="-120"/>
              </a:rPr>
              <a:t>ORIENTATION</a:t>
            </a:r>
            <a:endParaRPr lang="en-US" sz="1200" dirty="0"/>
          </a:p>
        </p:txBody>
      </p:sp>
      <p:sp>
        <p:nvSpPr>
          <p:cNvPr id="3" name="Text 1"/>
          <p:cNvSpPr/>
          <p:nvPr/>
        </p:nvSpPr>
        <p:spPr>
          <a:xfrm>
            <a:off x="640080" y="777240"/>
            <a:ext cx="10515600" cy="822960"/>
          </a:xfrm>
          <a:prstGeom prst="rect">
            <a:avLst/>
          </a:prstGeom>
          <a:noFill/>
          <a:ln/>
        </p:spPr>
        <p:txBody>
          <a:bodyPr wrap="square" rtlCol="0" anchor="ctr"/>
          <a:lstStyle/>
          <a:p>
            <a:pPr indent="0" marL="0">
              <a:buNone/>
            </a:pPr>
            <a:r>
              <a:rPr lang="en-US" sz="2600" b="1" dirty="0">
                <a:solidFill>
                  <a:srgbClr val="1C3F60"/>
                </a:solidFill>
                <a:latin typeface="Georgia" pitchFamily="34" charset="0"/>
                <a:ea typeface="Georgia" pitchFamily="34" charset="-122"/>
                <a:cs typeface="Georgia" pitchFamily="34" charset="-120"/>
              </a:rPr>
              <a:t>Data pane, shelves, marks</a:t>
            </a:r>
            <a:endParaRPr lang="en-US" sz="2600" dirty="0"/>
          </a:p>
        </p:txBody>
      </p:sp>
      <p:sp>
        <p:nvSpPr>
          <p:cNvPr id="4" name="Shape 2"/>
          <p:cNvSpPr/>
          <p:nvPr/>
        </p:nvSpPr>
        <p:spPr>
          <a:xfrm>
            <a:off x="640080" y="2011680"/>
            <a:ext cx="3383280" cy="2377440"/>
          </a:xfrm>
          <a:prstGeom prst="rect">
            <a:avLst/>
          </a:prstGeom>
          <a:solidFill>
            <a:srgbClr val="1C3F60"/>
          </a:solidFill>
          <a:ln/>
        </p:spPr>
      </p:sp>
      <p:sp>
        <p:nvSpPr>
          <p:cNvPr id="5" name="Text 3"/>
          <p:cNvSpPr/>
          <p:nvPr/>
        </p:nvSpPr>
        <p:spPr>
          <a:xfrm>
            <a:off x="914400" y="2240280"/>
            <a:ext cx="2834640" cy="548640"/>
          </a:xfrm>
          <a:prstGeom prst="rect">
            <a:avLst/>
          </a:prstGeom>
          <a:noFill/>
          <a:ln/>
        </p:spPr>
        <p:txBody>
          <a:bodyPr wrap="square"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Data pane</a:t>
            </a:r>
            <a:endParaRPr lang="en-US" sz="1700" dirty="0"/>
          </a:p>
        </p:txBody>
      </p:sp>
      <p:sp>
        <p:nvSpPr>
          <p:cNvPr id="6" name="Text 4"/>
          <p:cNvSpPr/>
          <p:nvPr/>
        </p:nvSpPr>
        <p:spPr>
          <a:xfrm>
            <a:off x="914400" y="2834640"/>
            <a:ext cx="2834640" cy="1371600"/>
          </a:xfrm>
          <a:prstGeom prst="rect">
            <a:avLst/>
          </a:prstGeom>
          <a:noFill/>
          <a:ln/>
        </p:spPr>
        <p:txBody>
          <a:bodyPr wrap="square" rtlCol="0" anchor="t"/>
          <a:lstStyle/>
          <a:p>
            <a:pPr indent="0" marL="0">
              <a:buNone/>
            </a:pPr>
            <a:r>
              <a:rPr lang="en-US" sz="1250" dirty="0">
                <a:solidFill>
                  <a:srgbClr val="D6E2EA"/>
                </a:solidFill>
                <a:latin typeface="Calibri" pitchFamily="34" charset="0"/>
                <a:ea typeface="Calibri" pitchFamily="34" charset="-122"/>
                <a:cs typeface="Calibri" pitchFamily="34" charset="-120"/>
              </a:rPr>
              <a:t>Dimensions in blue, Measures in green</a:t>
            </a:r>
            <a:endParaRPr lang="en-US" sz="1250" dirty="0"/>
          </a:p>
        </p:txBody>
      </p:sp>
      <p:sp>
        <p:nvSpPr>
          <p:cNvPr id="7" name="Shape 5"/>
          <p:cNvSpPr/>
          <p:nvPr/>
        </p:nvSpPr>
        <p:spPr>
          <a:xfrm>
            <a:off x="4343400" y="2011680"/>
            <a:ext cx="3383280" cy="2377440"/>
          </a:xfrm>
          <a:prstGeom prst="rect">
            <a:avLst/>
          </a:prstGeom>
          <a:solidFill>
            <a:srgbClr val="F4F1EC"/>
          </a:solidFill>
          <a:ln/>
        </p:spPr>
      </p:sp>
      <p:sp>
        <p:nvSpPr>
          <p:cNvPr id="8" name="Text 6"/>
          <p:cNvSpPr/>
          <p:nvPr/>
        </p:nvSpPr>
        <p:spPr>
          <a:xfrm>
            <a:off x="4617720" y="2240280"/>
            <a:ext cx="2834640" cy="548640"/>
          </a:xfrm>
          <a:prstGeom prst="rect">
            <a:avLst/>
          </a:prstGeom>
          <a:noFill/>
          <a:ln/>
        </p:spPr>
        <p:txBody>
          <a:bodyPr wrap="square" rtlCol="0" anchor="ctr"/>
          <a:lstStyle/>
          <a:p>
            <a:pPr indent="0" marL="0">
              <a:buNone/>
            </a:pPr>
            <a:r>
              <a:rPr lang="en-US" sz="1700" b="1" dirty="0">
                <a:solidFill>
                  <a:srgbClr val="1C3F60"/>
                </a:solidFill>
                <a:latin typeface="Georgia" pitchFamily="34" charset="0"/>
                <a:ea typeface="Georgia" pitchFamily="34" charset="-122"/>
                <a:cs typeface="Georgia" pitchFamily="34" charset="-120"/>
              </a:rPr>
              <a:t>Rows and Columns</a:t>
            </a:r>
            <a:endParaRPr lang="en-US" sz="1700" dirty="0"/>
          </a:p>
        </p:txBody>
      </p:sp>
      <p:sp>
        <p:nvSpPr>
          <p:cNvPr id="9" name="Text 7"/>
          <p:cNvSpPr/>
          <p:nvPr/>
        </p:nvSpPr>
        <p:spPr>
          <a:xfrm>
            <a:off x="4617720" y="2834640"/>
            <a:ext cx="2834640" cy="1371600"/>
          </a:xfrm>
          <a:prstGeom prst="rect">
            <a:avLst/>
          </a:prstGeom>
          <a:noFill/>
          <a:ln/>
        </p:spPr>
        <p:txBody>
          <a:bodyPr wrap="square" rtlCol="0" anchor="t"/>
          <a:lstStyle/>
          <a:p>
            <a:pPr indent="0" marL="0">
              <a:buNone/>
            </a:pPr>
            <a:r>
              <a:rPr lang="en-US" sz="1250" dirty="0">
                <a:solidFill>
                  <a:srgbClr val="2A2A2A"/>
                </a:solidFill>
                <a:latin typeface="Calibri" pitchFamily="34" charset="0"/>
                <a:ea typeface="Calibri" pitchFamily="34" charset="-122"/>
                <a:cs typeface="Calibri" pitchFamily="34" charset="-120"/>
              </a:rPr>
              <a:t>drag fields here to build the chart</a:t>
            </a:r>
            <a:endParaRPr lang="en-US" sz="1250" dirty="0"/>
          </a:p>
        </p:txBody>
      </p:sp>
      <p:sp>
        <p:nvSpPr>
          <p:cNvPr id="10" name="Shape 8"/>
          <p:cNvSpPr/>
          <p:nvPr/>
        </p:nvSpPr>
        <p:spPr>
          <a:xfrm>
            <a:off x="8046720" y="2011680"/>
            <a:ext cx="3383280" cy="2377440"/>
          </a:xfrm>
          <a:prstGeom prst="rect">
            <a:avLst/>
          </a:prstGeom>
          <a:solidFill>
            <a:srgbClr val="F4F1EC"/>
          </a:solidFill>
          <a:ln/>
        </p:spPr>
      </p:sp>
      <p:sp>
        <p:nvSpPr>
          <p:cNvPr id="11" name="Text 9"/>
          <p:cNvSpPr/>
          <p:nvPr/>
        </p:nvSpPr>
        <p:spPr>
          <a:xfrm>
            <a:off x="8321040" y="2240280"/>
            <a:ext cx="2834640" cy="548640"/>
          </a:xfrm>
          <a:prstGeom prst="rect">
            <a:avLst/>
          </a:prstGeom>
          <a:noFill/>
          <a:ln/>
        </p:spPr>
        <p:txBody>
          <a:bodyPr wrap="square" rtlCol="0" anchor="ctr"/>
          <a:lstStyle/>
          <a:p>
            <a:pPr indent="0" marL="0">
              <a:buNone/>
            </a:pPr>
            <a:r>
              <a:rPr lang="en-US" sz="1700" b="1" dirty="0">
                <a:solidFill>
                  <a:srgbClr val="1C3F60"/>
                </a:solidFill>
                <a:latin typeface="Georgia" pitchFamily="34" charset="0"/>
                <a:ea typeface="Georgia" pitchFamily="34" charset="-122"/>
                <a:cs typeface="Georgia" pitchFamily="34" charset="-120"/>
              </a:rPr>
              <a:t>Marks card</a:t>
            </a:r>
            <a:endParaRPr lang="en-US" sz="1700" dirty="0"/>
          </a:p>
        </p:txBody>
      </p:sp>
      <p:sp>
        <p:nvSpPr>
          <p:cNvPr id="12" name="Text 10"/>
          <p:cNvSpPr/>
          <p:nvPr/>
        </p:nvSpPr>
        <p:spPr>
          <a:xfrm>
            <a:off x="8321040" y="2834640"/>
            <a:ext cx="2834640" cy="1371600"/>
          </a:xfrm>
          <a:prstGeom prst="rect">
            <a:avLst/>
          </a:prstGeom>
          <a:noFill/>
          <a:ln/>
        </p:spPr>
        <p:txBody>
          <a:bodyPr wrap="square" rtlCol="0" anchor="t"/>
          <a:lstStyle/>
          <a:p>
            <a:pPr indent="0" marL="0">
              <a:buNone/>
            </a:pPr>
            <a:r>
              <a:rPr lang="en-US" sz="1250" dirty="0">
                <a:solidFill>
                  <a:srgbClr val="2A2A2A"/>
                </a:solidFill>
                <a:latin typeface="Calibri" pitchFamily="34" charset="0"/>
                <a:ea typeface="Calibri" pitchFamily="34" charset="-122"/>
                <a:cs typeface="Calibri" pitchFamily="34" charset="-120"/>
              </a:rPr>
              <a:t>color, size, label, detail, tooltip</a:t>
            </a:r>
            <a:endParaRPr lang="en-US" sz="1250" dirty="0"/>
          </a:p>
        </p:txBody>
      </p:sp>
      <p:sp>
        <p:nvSpPr>
          <p:cNvPr id="13" name="Text 11"/>
          <p:cNvSpPr/>
          <p:nvPr/>
        </p:nvSpPr>
        <p:spPr>
          <a:xfrm>
            <a:off x="640080" y="4754880"/>
            <a:ext cx="10515600" cy="914400"/>
          </a:xfrm>
          <a:prstGeom prst="rect">
            <a:avLst/>
          </a:prstGeom>
          <a:noFill/>
          <a:ln/>
        </p:spPr>
        <p:txBody>
          <a:bodyPr wrap="square" rtlCol="0" anchor="ctr"/>
          <a:lstStyle/>
          <a:p>
            <a:pPr indent="0" marL="0">
              <a:buNone/>
            </a:pPr>
            <a:r>
              <a:rPr lang="en-US" sz="1400" i="1" dirty="0">
                <a:solidFill>
                  <a:srgbClr val="6B6B6B"/>
                </a:solidFill>
                <a:latin typeface="Calibri" pitchFamily="34" charset="0"/>
                <a:ea typeface="Calibri" pitchFamily="34" charset="-122"/>
                <a:cs typeface="Calibri" pitchFamily="34" charset="-120"/>
              </a:rPr>
              <a:t>First build, live: Designation to Columns, average Gross_Area_Acres to Rows. Then Region to Columns, colored by Region. Watch what happens to the Alaska bar.</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9144000" cy="365760"/>
          </a:xfrm>
          <a:prstGeom prst="rect">
            <a:avLst/>
          </a:prstGeom>
          <a:noFill/>
          <a:ln/>
        </p:spPr>
        <p:txBody>
          <a:bodyPr wrap="square" rtlCol="0" anchor="ctr"/>
          <a:lstStyle/>
          <a:p>
            <a:pPr indent="0" marL="0">
              <a:buNone/>
            </a:pPr>
            <a:r>
              <a:rPr lang="en-US" sz="1200" b="1" spc="200" kern="0" dirty="0">
                <a:solidFill>
                  <a:srgbClr val="D97E3F"/>
                </a:solidFill>
                <a:latin typeface="Calibri" pitchFamily="34" charset="0"/>
                <a:ea typeface="Calibri" pitchFamily="34" charset="-122"/>
                <a:cs typeface="Calibri" pitchFamily="34" charset="-120"/>
              </a:rPr>
              <a:t>GUIDED BUILD, 25 MIN</a:t>
            </a:r>
            <a:endParaRPr lang="en-US" sz="1200" dirty="0"/>
          </a:p>
        </p:txBody>
      </p:sp>
      <p:sp>
        <p:nvSpPr>
          <p:cNvPr id="3" name="Text 1"/>
          <p:cNvSpPr/>
          <p:nvPr/>
        </p:nvSpPr>
        <p:spPr>
          <a:xfrm>
            <a:off x="640080" y="777240"/>
            <a:ext cx="10515600" cy="822960"/>
          </a:xfrm>
          <a:prstGeom prst="rect">
            <a:avLst/>
          </a:prstGeom>
          <a:noFill/>
          <a:ln/>
        </p:spPr>
        <p:txBody>
          <a:bodyPr wrap="square" rtlCol="0" anchor="ctr"/>
          <a:lstStyle/>
          <a:p>
            <a:pPr indent="0" marL="0">
              <a:buNone/>
            </a:pPr>
            <a:r>
              <a:rPr lang="en-US" sz="2600" b="1" dirty="0">
                <a:solidFill>
                  <a:srgbClr val="1C3F60"/>
                </a:solidFill>
                <a:latin typeface="Georgia" pitchFamily="34" charset="0"/>
                <a:ea typeface="Georgia" pitchFamily="34" charset="-122"/>
                <a:cs typeface="Georgia" pitchFamily="34" charset="-120"/>
              </a:rPr>
              <a:t>Rebuild, combine, filter</a:t>
            </a:r>
            <a:endParaRPr lang="en-US" sz="2600" dirty="0"/>
          </a:p>
        </p:txBody>
      </p:sp>
      <p:sp>
        <p:nvSpPr>
          <p:cNvPr id="4" name="Text 2"/>
          <p:cNvSpPr/>
          <p:nvPr/>
        </p:nvSpPr>
        <p:spPr>
          <a:xfrm>
            <a:off x="640080" y="2011680"/>
            <a:ext cx="502920" cy="502920"/>
          </a:xfrm>
          <a:prstGeom prst="rect">
            <a:avLst/>
          </a:prstGeom>
          <a:noFill/>
          <a:ln/>
        </p:spPr>
        <p:txBody>
          <a:bodyPr wrap="square" rtlCol="0" anchor="ctr"/>
          <a:lstStyle/>
          <a:p>
            <a:pPr indent="0" marL="0">
              <a:buNone/>
            </a:pPr>
            <a:r>
              <a:rPr lang="en-US" sz="2000" b="1" dirty="0">
                <a:solidFill>
                  <a:srgbClr val="D97E3F"/>
                </a:solidFill>
                <a:latin typeface="Georgia" pitchFamily="34" charset="0"/>
                <a:ea typeface="Georgia" pitchFamily="34" charset="-122"/>
                <a:cs typeface="Georgia" pitchFamily="34" charset="-120"/>
              </a:rPr>
              <a:t>1</a:t>
            </a:r>
            <a:endParaRPr lang="en-US" sz="2000" dirty="0"/>
          </a:p>
        </p:txBody>
      </p:sp>
      <p:sp>
        <p:nvSpPr>
          <p:cNvPr id="5" name="Text 3"/>
          <p:cNvSpPr/>
          <p:nvPr/>
        </p:nvSpPr>
        <p:spPr>
          <a:xfrm>
            <a:off x="1188720" y="2039112"/>
            <a:ext cx="9966960" cy="502920"/>
          </a:xfrm>
          <a:prstGeom prst="rect">
            <a:avLst/>
          </a:prstGeom>
          <a:noFill/>
          <a:ln/>
        </p:spPr>
        <p:txBody>
          <a:bodyPr wrap="square" rtlCol="0" anchor="ctr"/>
          <a:lstStyle/>
          <a:p>
            <a:pPr indent="0" marL="0">
              <a:buNone/>
            </a:pPr>
            <a:r>
              <a:rPr lang="en-US" sz="1600" dirty="0">
                <a:solidFill>
                  <a:srgbClr val="2A2A2A"/>
                </a:solidFill>
                <a:latin typeface="Calibri" pitchFamily="34" charset="0"/>
                <a:ea typeface="Calibri" pitchFamily="34" charset="-122"/>
                <a:cs typeface="Calibri" pitchFamily="34" charset="-120"/>
              </a:rPr>
              <a:t>Rebuild both charts from the demo</a:t>
            </a:r>
            <a:endParaRPr lang="en-US" sz="1600" dirty="0"/>
          </a:p>
        </p:txBody>
      </p:sp>
      <p:sp>
        <p:nvSpPr>
          <p:cNvPr id="6" name="Text 4"/>
          <p:cNvSpPr/>
          <p:nvPr/>
        </p:nvSpPr>
        <p:spPr>
          <a:xfrm>
            <a:off x="640080" y="2788920"/>
            <a:ext cx="502920" cy="502920"/>
          </a:xfrm>
          <a:prstGeom prst="rect">
            <a:avLst/>
          </a:prstGeom>
          <a:noFill/>
          <a:ln/>
        </p:spPr>
        <p:txBody>
          <a:bodyPr wrap="square" rtlCol="0" anchor="ctr"/>
          <a:lstStyle/>
          <a:p>
            <a:pPr indent="0" marL="0">
              <a:buNone/>
            </a:pPr>
            <a:r>
              <a:rPr lang="en-US" sz="2000" b="1" dirty="0">
                <a:solidFill>
                  <a:srgbClr val="D97E3F"/>
                </a:solidFill>
                <a:latin typeface="Georgia" pitchFamily="34" charset="0"/>
                <a:ea typeface="Georgia" pitchFamily="34" charset="-122"/>
                <a:cs typeface="Georgia" pitchFamily="34" charset="-120"/>
              </a:rPr>
              <a:t>2</a:t>
            </a:r>
            <a:endParaRPr lang="en-US" sz="2000" dirty="0"/>
          </a:p>
        </p:txBody>
      </p:sp>
      <p:sp>
        <p:nvSpPr>
          <p:cNvPr id="7" name="Text 5"/>
          <p:cNvSpPr/>
          <p:nvPr/>
        </p:nvSpPr>
        <p:spPr>
          <a:xfrm>
            <a:off x="1188720" y="2816352"/>
            <a:ext cx="9966960" cy="502920"/>
          </a:xfrm>
          <a:prstGeom prst="rect">
            <a:avLst/>
          </a:prstGeom>
          <a:noFill/>
          <a:ln/>
        </p:spPr>
        <p:txBody>
          <a:bodyPr wrap="square" rtlCol="0" anchor="ctr"/>
          <a:lstStyle/>
          <a:p>
            <a:pPr indent="0" marL="0">
              <a:buNone/>
            </a:pPr>
            <a:r>
              <a:rPr lang="en-US" sz="1600" dirty="0">
                <a:solidFill>
                  <a:srgbClr val="2A2A2A"/>
                </a:solidFill>
                <a:latin typeface="Calibri" pitchFamily="34" charset="0"/>
                <a:ea typeface="Calibri" pitchFamily="34" charset="-122"/>
                <a:cs typeface="Calibri" pitchFamily="34" charset="-120"/>
              </a:rPr>
              <a:t>Combine them on a new Dashboard</a:t>
            </a:r>
            <a:endParaRPr lang="en-US" sz="1600" dirty="0"/>
          </a:p>
        </p:txBody>
      </p:sp>
      <p:sp>
        <p:nvSpPr>
          <p:cNvPr id="8" name="Text 6"/>
          <p:cNvSpPr/>
          <p:nvPr/>
        </p:nvSpPr>
        <p:spPr>
          <a:xfrm>
            <a:off x="640080" y="3566160"/>
            <a:ext cx="502920" cy="502920"/>
          </a:xfrm>
          <a:prstGeom prst="rect">
            <a:avLst/>
          </a:prstGeom>
          <a:noFill/>
          <a:ln/>
        </p:spPr>
        <p:txBody>
          <a:bodyPr wrap="square" rtlCol="0" anchor="ctr"/>
          <a:lstStyle/>
          <a:p>
            <a:pPr indent="0" marL="0">
              <a:buNone/>
            </a:pPr>
            <a:r>
              <a:rPr lang="en-US" sz="2000" b="1" dirty="0">
                <a:solidFill>
                  <a:srgbClr val="D97E3F"/>
                </a:solidFill>
                <a:latin typeface="Georgia" pitchFamily="34" charset="0"/>
                <a:ea typeface="Georgia" pitchFamily="34" charset="-122"/>
                <a:cs typeface="Georgia" pitchFamily="34" charset="-120"/>
              </a:rPr>
              <a:t>3</a:t>
            </a:r>
            <a:endParaRPr lang="en-US" sz="2000" dirty="0"/>
          </a:p>
        </p:txBody>
      </p:sp>
      <p:sp>
        <p:nvSpPr>
          <p:cNvPr id="9" name="Text 7"/>
          <p:cNvSpPr/>
          <p:nvPr/>
        </p:nvSpPr>
        <p:spPr>
          <a:xfrm>
            <a:off x="1188720" y="3593592"/>
            <a:ext cx="9966960" cy="502920"/>
          </a:xfrm>
          <a:prstGeom prst="rect">
            <a:avLst/>
          </a:prstGeom>
          <a:noFill/>
          <a:ln/>
        </p:spPr>
        <p:txBody>
          <a:bodyPr wrap="square" rtlCol="0" anchor="ctr"/>
          <a:lstStyle/>
          <a:p>
            <a:pPr indent="0" marL="0">
              <a:buNone/>
            </a:pPr>
            <a:r>
              <a:rPr lang="en-US" sz="1600" dirty="0">
                <a:solidFill>
                  <a:srgbClr val="2A2A2A"/>
                </a:solidFill>
                <a:latin typeface="Calibri" pitchFamily="34" charset="0"/>
                <a:ea typeface="Calibri" pitchFamily="34" charset="-122"/>
                <a:cs typeface="Calibri" pitchFamily="34" charset="-120"/>
              </a:rPr>
              <a:t>Add a filter on Designation, apply it to all sheets</a:t>
            </a:r>
            <a:endParaRPr lang="en-US" sz="1600" dirty="0"/>
          </a:p>
        </p:txBody>
      </p:sp>
      <p:sp>
        <p:nvSpPr>
          <p:cNvPr id="10" name="Text 8"/>
          <p:cNvSpPr/>
          <p:nvPr/>
        </p:nvSpPr>
        <p:spPr>
          <a:xfrm>
            <a:off x="640080" y="4343400"/>
            <a:ext cx="502920" cy="502920"/>
          </a:xfrm>
          <a:prstGeom prst="rect">
            <a:avLst/>
          </a:prstGeom>
          <a:noFill/>
          <a:ln/>
        </p:spPr>
        <p:txBody>
          <a:bodyPr wrap="square" rtlCol="0" anchor="ctr"/>
          <a:lstStyle/>
          <a:p>
            <a:pPr indent="0" marL="0">
              <a:buNone/>
            </a:pPr>
            <a:r>
              <a:rPr lang="en-US" sz="2000" b="1" dirty="0">
                <a:solidFill>
                  <a:srgbClr val="D97E3F"/>
                </a:solidFill>
                <a:latin typeface="Georgia" pitchFamily="34" charset="0"/>
                <a:ea typeface="Georgia" pitchFamily="34" charset="-122"/>
                <a:cs typeface="Georgia" pitchFamily="34" charset="-120"/>
              </a:rPr>
              <a:t>4</a:t>
            </a:r>
            <a:endParaRPr lang="en-US" sz="2000" dirty="0"/>
          </a:p>
        </p:txBody>
      </p:sp>
      <p:sp>
        <p:nvSpPr>
          <p:cNvPr id="11" name="Text 9"/>
          <p:cNvSpPr/>
          <p:nvPr/>
        </p:nvSpPr>
        <p:spPr>
          <a:xfrm>
            <a:off x="1188720" y="4370832"/>
            <a:ext cx="9966960" cy="502920"/>
          </a:xfrm>
          <a:prstGeom prst="rect">
            <a:avLst/>
          </a:prstGeom>
          <a:noFill/>
          <a:ln/>
        </p:spPr>
        <p:txBody>
          <a:bodyPr wrap="square" rtlCol="0" anchor="ctr"/>
          <a:lstStyle/>
          <a:p>
            <a:pPr indent="0" marL="0">
              <a:buNone/>
            </a:pPr>
            <a:r>
              <a:rPr lang="en-US" sz="1600" dirty="0">
                <a:solidFill>
                  <a:srgbClr val="2A2A2A"/>
                </a:solidFill>
                <a:latin typeface="Calibri" pitchFamily="34" charset="0"/>
                <a:ea typeface="Calibri" pitchFamily="34" charset="-122"/>
                <a:cs typeface="Calibri" pitchFamily="34" charset="-120"/>
              </a:rPr>
              <a:t>Your choice: a third visual, ideally your Pct_Federal column as a calculated field</a:t>
            </a:r>
            <a:endParaRPr lang="en-US" sz="1600" dirty="0"/>
          </a:p>
        </p:txBody>
      </p:sp>
      <p:sp>
        <p:nvSpPr>
          <p:cNvPr id="12" name="Text 10"/>
          <p:cNvSpPr/>
          <p:nvPr/>
        </p:nvSpPr>
        <p:spPr>
          <a:xfrm>
            <a:off x="640080" y="5212080"/>
            <a:ext cx="10058400" cy="457200"/>
          </a:xfrm>
          <a:prstGeom prst="rect">
            <a:avLst/>
          </a:prstGeom>
          <a:noFill/>
          <a:ln/>
        </p:spPr>
        <p:txBody>
          <a:bodyPr wrap="square" rtlCol="0" anchor="ctr"/>
          <a:lstStyle/>
          <a:p>
            <a:pPr indent="0" marL="0">
              <a:buNone/>
            </a:pPr>
            <a:r>
              <a:rPr lang="en-US" sz="1400" b="1" i="1" dirty="0">
                <a:solidFill>
                  <a:srgbClr val="1C3F60"/>
                </a:solidFill>
                <a:latin typeface="Calibri" pitchFamily="34" charset="0"/>
                <a:ea typeface="Calibri" pitchFamily="34" charset="-122"/>
                <a:cs typeface="Calibri" pitchFamily="34" charset="-120"/>
              </a:rPr>
              <a:t>Every chart needs a title that states the finding, not the chart type.</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9144000" cy="365760"/>
          </a:xfrm>
          <a:prstGeom prst="rect">
            <a:avLst/>
          </a:prstGeom>
          <a:noFill/>
          <a:ln/>
        </p:spPr>
        <p:txBody>
          <a:bodyPr wrap="square" rtlCol="0" anchor="ctr"/>
          <a:lstStyle/>
          <a:p>
            <a:pPr indent="0" marL="0">
              <a:buNone/>
            </a:pPr>
            <a:r>
              <a:rPr lang="en-US" sz="1200" b="1" spc="200" kern="0" dirty="0">
                <a:solidFill>
                  <a:srgbClr val="D97E3F"/>
                </a:solidFill>
                <a:latin typeface="Calibri" pitchFamily="34" charset="0"/>
                <a:ea typeface="Calibri" pitchFamily="34" charset="-122"/>
                <a:cs typeface="Calibri" pitchFamily="34" charset="-120"/>
              </a:rPr>
              <a:t>THE FIVE SECOND TEST</a:t>
            </a:r>
            <a:endParaRPr lang="en-US" sz="1200" dirty="0"/>
          </a:p>
        </p:txBody>
      </p:sp>
      <p:sp>
        <p:nvSpPr>
          <p:cNvPr id="3" name="Text 1"/>
          <p:cNvSpPr/>
          <p:nvPr/>
        </p:nvSpPr>
        <p:spPr>
          <a:xfrm>
            <a:off x="640080" y="777240"/>
            <a:ext cx="10515600" cy="822960"/>
          </a:xfrm>
          <a:prstGeom prst="rect">
            <a:avLst/>
          </a:prstGeom>
          <a:noFill/>
          <a:ln/>
        </p:spPr>
        <p:txBody>
          <a:bodyPr wrap="square" rtlCol="0" anchor="ctr"/>
          <a:lstStyle/>
          <a:p>
            <a:pPr indent="0" marL="0">
              <a:buNone/>
            </a:pPr>
            <a:r>
              <a:rPr lang="en-US" sz="2600" b="1" dirty="0">
                <a:solidFill>
                  <a:srgbClr val="1C3F60"/>
                </a:solidFill>
                <a:latin typeface="Georgia" pitchFamily="34" charset="0"/>
                <a:ea typeface="Georgia" pitchFamily="34" charset="-122"/>
                <a:cs typeface="Georgia" pitchFamily="34" charset="-120"/>
              </a:rPr>
              <a:t>Critique, then look ahead</a:t>
            </a:r>
            <a:endParaRPr lang="en-US" sz="2600" dirty="0"/>
          </a:p>
        </p:txBody>
      </p:sp>
      <p:sp>
        <p:nvSpPr>
          <p:cNvPr id="4" name="Shape 2"/>
          <p:cNvSpPr/>
          <p:nvPr/>
        </p:nvSpPr>
        <p:spPr>
          <a:xfrm>
            <a:off x="640080" y="1874520"/>
            <a:ext cx="10881360" cy="1005840"/>
          </a:xfrm>
          <a:prstGeom prst="roundRect">
            <a:avLst>
              <a:gd name="adj" fmla="val 5455"/>
            </a:avLst>
          </a:prstGeom>
          <a:solidFill>
            <a:srgbClr val="1C3F60"/>
          </a:solidFill>
          <a:ln/>
        </p:spPr>
      </p:sp>
      <p:sp>
        <p:nvSpPr>
          <p:cNvPr id="5" name="Text 3"/>
          <p:cNvSpPr/>
          <p:nvPr/>
        </p:nvSpPr>
        <p:spPr>
          <a:xfrm>
            <a:off x="1005840" y="1874520"/>
            <a:ext cx="10149840" cy="1005840"/>
          </a:xfrm>
          <a:prstGeom prst="rect">
            <a:avLst/>
          </a:prstGeom>
          <a:noFill/>
          <a:ln/>
        </p:spPr>
        <p:txBody>
          <a:bodyPr wrap="square"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What would you understand from this in five seconds, cold?</a:t>
            </a:r>
            <a:endParaRPr lang="en-US" sz="1700" dirty="0"/>
          </a:p>
        </p:txBody>
      </p:sp>
      <p:sp>
        <p:nvSpPr>
          <p:cNvPr id="6" name="Text 4"/>
          <p:cNvSpPr/>
          <p:nvPr/>
        </p:nvSpPr>
        <p:spPr>
          <a:xfrm>
            <a:off x="640080" y="3108960"/>
            <a:ext cx="10332720" cy="731520"/>
          </a:xfrm>
          <a:prstGeom prst="rect">
            <a:avLst/>
          </a:prstGeom>
          <a:noFill/>
          <a:ln/>
        </p:spPr>
        <p:txBody>
          <a:bodyPr wrap="square" rtlCol="0" anchor="ctr"/>
          <a:lstStyle/>
          <a:p>
            <a:pPr indent="0" marL="0">
              <a:buNone/>
            </a:pPr>
            <a:r>
              <a:rPr lang="en-US" sz="1350" dirty="0">
                <a:solidFill>
                  <a:srgbClr val="2A2A2A"/>
                </a:solidFill>
                <a:latin typeface="Calibri" pitchFamily="34" charset="0"/>
                <a:ea typeface="Calibri" pitchFamily="34" charset="-122"/>
                <a:cs typeface="Calibri" pitchFamily="34" charset="-120"/>
              </a:rPr>
              <a:t>Common fixes: unlabeled axes, no clear color meaning, too many charts, a title naming the chart type instead of the finding.</a:t>
            </a:r>
            <a:endParaRPr lang="en-US" sz="1350" dirty="0"/>
          </a:p>
        </p:txBody>
      </p:sp>
      <p:sp>
        <p:nvSpPr>
          <p:cNvPr id="7" name="Shape 5"/>
          <p:cNvSpPr/>
          <p:nvPr/>
        </p:nvSpPr>
        <p:spPr>
          <a:xfrm>
            <a:off x="640080" y="4114800"/>
            <a:ext cx="10881360" cy="18288"/>
          </a:xfrm>
          <a:prstGeom prst="rect">
            <a:avLst/>
          </a:prstGeom>
          <a:solidFill>
            <a:srgbClr val="5B8A82"/>
          </a:solidFill>
          <a:ln/>
        </p:spPr>
      </p:sp>
      <p:sp>
        <p:nvSpPr>
          <p:cNvPr id="8" name="Text 6"/>
          <p:cNvSpPr/>
          <p:nvPr/>
        </p:nvSpPr>
        <p:spPr>
          <a:xfrm>
            <a:off x="640080" y="4434840"/>
            <a:ext cx="10332720" cy="822960"/>
          </a:xfrm>
          <a:prstGeom prst="rect">
            <a:avLst/>
          </a:prstGeom>
          <a:noFill/>
          <a:ln/>
        </p:spPr>
        <p:txBody>
          <a:bodyPr wrap="square" rtlCol="0" anchor="ctr"/>
          <a:lstStyle/>
          <a:p>
            <a:pPr indent="0" marL="0">
              <a:buNone/>
            </a:pPr>
            <a:r>
              <a:rPr lang="en-US" sz="1700" b="1" dirty="0">
                <a:solidFill>
                  <a:srgbClr val="1C3F60"/>
                </a:solidFill>
                <a:latin typeface="Georgia" pitchFamily="34" charset="0"/>
                <a:ea typeface="Georgia" pitchFamily="34" charset="-122"/>
                <a:cs typeface="Georgia" pitchFamily="34" charset="-120"/>
              </a:rPr>
              <a:t>Week 4 is yours. Before you go: pick up working-independently.md and worked-example.md on your way out.</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2026-08-05T19:15:07Z</dcterms:created>
  <dcterms:modified xsi:type="dcterms:W3CDTF">2026-08-05T19:15:07Z</dcterms:modified>
</cp:coreProperties>
</file>